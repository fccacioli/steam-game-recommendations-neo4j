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7A1F2B"/>
                </a:solidFill>
                <a:latin typeface="Georgia"/>
              </a:defRPr>
            </a:pPr>
            <a:r>
              <a:rPr lang="en-US" sz="1600" b="0" i="0" u="none" strike="noStrike">
                <a:solidFill>
                  <a:srgbClr val="7A1F2B"/>
                </a:solidFill>
                <a:latin typeface="Georgia"/>
              </a:rPr>
              <a:t>Most common tags in the catalogue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Games</c:v>
                </c:pt>
              </c:strCache>
            </c:strRef>
          </c:tx>
          <c:spPr>
            <a:solidFill>
              <a:srgbClr val="7A1F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Indie</c:v>
                </c:pt>
                <c:pt idx="1">
                  <c:v>Singleplayer</c:v>
                </c:pt>
                <c:pt idx="2">
                  <c:v>Action</c:v>
                </c:pt>
                <c:pt idx="3">
                  <c:v>Adventure</c:v>
                </c:pt>
                <c:pt idx="4">
                  <c:v>Casual</c:v>
                </c:pt>
                <c:pt idx="5">
                  <c:v>Simulation</c:v>
                </c:pt>
                <c:pt idx="6">
                  <c:v>2D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27957</c:v>
                </c:pt>
                <c:pt idx="1">
                  <c:v>22566</c:v>
                </c:pt>
                <c:pt idx="2">
                  <c:v>21897</c:v>
                </c:pt>
                <c:pt idx="3">
                  <c:v>20183</c:v>
                </c:pt>
                <c:pt idx="4">
                  <c:v>17844</c:v>
                </c:pt>
                <c:pt idx="5">
                  <c:v>12691</c:v>
                </c:pt>
                <c:pt idx="6">
                  <c:v>11438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8-4630-A34C-5501E0B946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98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61320" y="740664"/>
            <a:ext cx="676656" cy="310896"/>
          </a:xfrm>
          <a:prstGeom prst="line">
            <a:avLst/>
          </a:prstGeom>
          <a:noFill/>
          <a:ln w="19050">
            <a:solidFill>
              <a:srgbClr val="B980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338560" y="640080"/>
            <a:ext cx="182880" cy="868680"/>
          </a:xfrm>
          <a:prstGeom prst="line">
            <a:avLst/>
          </a:prstGeom>
          <a:noFill/>
          <a:ln w="19050">
            <a:solidFill>
              <a:srgbClr val="B980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10378440" y="914400"/>
            <a:ext cx="310896" cy="310896"/>
          </a:xfrm>
          <a:prstGeom prst="ellipse">
            <a:avLst/>
          </a:prstGeom>
          <a:solidFill>
            <a:srgbClr val="2E7F8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1201400" y="502920"/>
            <a:ext cx="274320" cy="274320"/>
          </a:xfrm>
          <a:prstGeom prst="ellipse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1384280" y="1371600"/>
            <a:ext cx="237744" cy="237744"/>
          </a:xfrm>
          <a:prstGeom prst="ellipse">
            <a:avLst/>
          </a:prstGeom>
          <a:solidFill>
            <a:srgbClr val="4F8A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spc="300" dirty="0">
                <a:solidFill>
                  <a:srgbClr val="E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2025/2026   ·   SAPIENZA UNIVERSITÀ DI ROMA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Recommending video games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graph database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9808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content-based recommendation engine on Neo4j applied to Steam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4846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E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Fabiano Cacioli — Student ID 2273170</a:t>
            </a:r>
            <a:endParaRPr lang="en-US" sz="15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500" dirty="0">
                <a:solidFill>
                  <a:srgbClr val="E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Buonomini — Student ID 2257472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C9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· Neo4j · Cypher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among too many games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hosts over 90,000 titles: finding the right one is hard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 drive discovery — and sales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question: “You liked this game? Here are similar ones”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955280" y="1828800"/>
            <a:ext cx="3566160" cy="2743200"/>
          </a:xfrm>
          <a:prstGeom prst="rect">
            <a:avLst/>
          </a:prstGeom>
          <a:solidFill>
            <a:srgbClr val="7A1F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955280" y="22860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90,000+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955280" y="34747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available on Steam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GRAPH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graph database?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a network by nature: users, games and tags all connected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graph model, relationships are first-class citizens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connections is natural and fast — no costly JOINs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046720" y="3337560"/>
            <a:ext cx="822960" cy="0"/>
          </a:xfrm>
          <a:prstGeom prst="line">
            <a:avLst/>
          </a:prstGeom>
          <a:noFill/>
          <a:ln w="25400">
            <a:solidFill>
              <a:srgbClr val="C9B7B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 flipV="1">
            <a:off x="9875520" y="2834640"/>
            <a:ext cx="640080" cy="502920"/>
          </a:xfrm>
          <a:prstGeom prst="line">
            <a:avLst/>
          </a:prstGeom>
          <a:noFill/>
          <a:ln w="25400">
            <a:solidFill>
              <a:srgbClr val="C9B7B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875520" y="3337560"/>
            <a:ext cx="1051560" cy="713232"/>
          </a:xfrm>
          <a:prstGeom prst="line">
            <a:avLst/>
          </a:prstGeom>
          <a:noFill/>
          <a:ln w="25400">
            <a:solidFill>
              <a:srgbClr val="C9B7B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040880" y="2834640"/>
            <a:ext cx="1005840" cy="1005840"/>
          </a:xfrm>
          <a:prstGeom prst="ellipse">
            <a:avLst/>
          </a:prstGeom>
          <a:solidFill>
            <a:srgbClr val="2E7F8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040880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2834640"/>
            <a:ext cx="1005840" cy="1005840"/>
          </a:xfrm>
          <a:prstGeom prst="ellipse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8869680" y="2834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0" y="2194560"/>
            <a:ext cx="868680" cy="868680"/>
          </a:xfrm>
          <a:prstGeom prst="ellipse">
            <a:avLst/>
          </a:prstGeom>
          <a:solidFill>
            <a:srgbClr val="4F8A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0515600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0" y="3611880"/>
            <a:ext cx="868680" cy="868680"/>
          </a:xfrm>
          <a:prstGeom prst="ellipse">
            <a:avLst/>
          </a:prstGeom>
          <a:solidFill>
            <a:srgbClr val="4F8A3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0515600" y="36118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stores relationships directly, instead of rebuilding them with JOINs.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dataset: Steam Game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public data from the Steam platform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 files: games.csv · users.csv · recommendations.csv (millions of rows) · games_metadata.json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 sample of 10,000 reviews for a responsive local demo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8076" y="3657600"/>
            <a:ext cx="3383280" cy="20116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08076" y="3657600"/>
            <a:ext cx="118872" cy="2011680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90956" y="4023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50,872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36676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in the graph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02836" y="3657600"/>
            <a:ext cx="3383280" cy="20116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402836" y="3657600"/>
            <a:ext cx="118872" cy="2011680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85716" y="4023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9,990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31436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(from the sample)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97596" y="3657600"/>
            <a:ext cx="3383280" cy="20116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8197596" y="3657600"/>
            <a:ext cx="118872" cy="2011680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8380476" y="40233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426196" y="5029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tags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figures from our import. The 10,000-row sample refers to reviews, not games.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graph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 types, 2 relationships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3566160"/>
            <a:ext cx="2194560" cy="0"/>
          </a:xfrm>
          <a:prstGeom prst="line">
            <a:avLst/>
          </a:prstGeom>
          <a:noFill/>
          <a:ln w="31750">
            <a:solidFill>
              <a:srgbClr val="7A1F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6400800" y="3566160"/>
            <a:ext cx="2377440" cy="0"/>
          </a:xfrm>
          <a:prstGeom prst="line">
            <a:avLst/>
          </a:prstGeom>
          <a:noFill/>
          <a:ln w="31750">
            <a:solidFill>
              <a:srgbClr val="CF9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6400800" y="3566160"/>
            <a:ext cx="2377440" cy="0"/>
          </a:xfrm>
          <a:prstGeom prst="line">
            <a:avLst/>
          </a:prstGeom>
          <a:noFill/>
          <a:ln w="31750">
            <a:solidFill>
              <a:srgbClr val="CF9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400800" y="3566160"/>
            <a:ext cx="2377440" cy="1371600"/>
          </a:xfrm>
          <a:prstGeom prst="line">
            <a:avLst/>
          </a:prstGeom>
          <a:noFill/>
          <a:ln w="31750">
            <a:solidFill>
              <a:srgbClr val="CF9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834640" y="31821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35844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HAS_TAG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3017520"/>
            <a:ext cx="1371600" cy="1371600"/>
          </a:xfrm>
          <a:prstGeom prst="ellipse">
            <a:avLst/>
          </a:prstGeom>
          <a:solidFill>
            <a:srgbClr val="2E7F8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962656"/>
            <a:ext cx="1371600" cy="1371600"/>
          </a:xfrm>
          <a:prstGeom prst="ellipse">
            <a:avLst/>
          </a:prstGeom>
          <a:solidFill>
            <a:srgbClr val="CF9A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80560" y="4434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 · title · rating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78240" y="1874520"/>
            <a:ext cx="1097280" cy="1097280"/>
          </a:xfrm>
          <a:prstGeom prst="ellipse">
            <a:avLst/>
          </a:prstGeom>
          <a:solidFill>
            <a:srgbClr val="4F8A3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8778240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78240" y="3154680"/>
            <a:ext cx="1097280" cy="1097280"/>
          </a:xfrm>
          <a:prstGeom prst="ellipse">
            <a:avLst/>
          </a:prstGeom>
          <a:solidFill>
            <a:srgbClr val="4F8A3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8778240" y="3154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78240" y="4434840"/>
            <a:ext cx="1097280" cy="1097280"/>
          </a:xfrm>
          <a:prstGeom prst="ellipse">
            <a:avLst/>
          </a:prstGeom>
          <a:solidFill>
            <a:srgbClr val="4F8A3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778240" y="44348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readable model, faithful to the real domain.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BB52C545-51EF-41A8-2BA2-B101AB0111F1}"/>
              </a:ext>
            </a:extLst>
          </p:cNvPr>
          <p:cNvSpPr/>
          <p:nvPr/>
        </p:nvSpPr>
        <p:spPr>
          <a:xfrm flipV="1">
            <a:off x="6400800" y="2587752"/>
            <a:ext cx="2377440" cy="960120"/>
          </a:xfrm>
          <a:prstGeom prst="line">
            <a:avLst/>
          </a:prstGeom>
          <a:noFill/>
          <a:ln w="31750">
            <a:solidFill>
              <a:srgbClr val="CF9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graph: the ETL process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99516" y="1600200"/>
            <a:ext cx="10789920" cy="932688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19556" y="1746504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19019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33956" y="17647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CSV + MERGE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33956" y="22585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nodes without creating duplicates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9516" y="2770632"/>
            <a:ext cx="10789920" cy="932688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019556" y="2916936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" y="307238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33956" y="293522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of 10,000 reviews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933956" y="34290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demo on a local PC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99516" y="3941064"/>
            <a:ext cx="10789920" cy="932688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1019556" y="4087368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5004" y="42428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33956" y="41056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APOC · apoc.load.json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33956" y="459943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tags from the JSON file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99516" y="5111496"/>
            <a:ext cx="10789920" cy="932688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1019556" y="5257800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004" y="54132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33956" y="52760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 and indexes (Step 0)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933956" y="576986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performant import and queries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Exploring the graph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descriptive analyses on the graph</a:t>
            </a:r>
            <a:endParaRPr lang="en-US" sz="16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tags dominate the catalogue</a:t>
            </a:r>
            <a:endParaRPr lang="en-US" sz="16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games gather the most recommendations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0" y="14630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943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tags in our catalogue (50,872 games). Indie dominates with over 27,000 titles.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recommendation (collaborative)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“Those who recommended X also recommended Y”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shared behaviour among users</a:t>
            </a:r>
            <a:endParaRPr lang="en-US" sz="19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limit: with 10,000 reviews the overlap is small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at what users do, not at what a game contains.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Content-based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82296" cy="914400"/>
          </a:xfrm>
          <a:prstGeom prst="rect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games share many tags.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10424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like Prince of Persia? Here are games with the same tags.”</a:t>
            </a:r>
            <a:endParaRPr lang="en-US" sz="2000" dirty="0"/>
          </a:p>
          <a:p>
            <a:pPr marL="254000" indent="-2540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data needed — the tags alone are enough, even for brand-new games.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similarity: the Jaccard 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035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games with very many tags would be unfairly favoured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shared tags ÷ total distinct tags of the two games</a:t>
            </a:r>
            <a:endParaRPr lang="en-US" sz="17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value from 0 to 1, a fair similarity score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0" y="2194560"/>
            <a:ext cx="1828800" cy="1828800"/>
          </a:xfrm>
          <a:prstGeom prst="ellipse">
            <a:avLst/>
          </a:prstGeom>
          <a:solidFill>
            <a:srgbClr val="2E7F80">
              <a:alpha val="55000"/>
            </a:srgbClr>
          </a:solidFill>
          <a:ln w="19050">
            <a:solidFill>
              <a:srgbClr val="2E7F8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CF9A2D">
              <a:alpha val="55000"/>
            </a:srgbClr>
          </a:solidFill>
          <a:ln w="19050">
            <a:solidFill>
              <a:srgbClr val="CF9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58000" y="283464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283464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2971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892040"/>
            <a:ext cx="5486400" cy="914400"/>
          </a:xfrm>
          <a:prstGeom prst="rect">
            <a:avLst/>
          </a:prstGeom>
          <a:solidFill>
            <a:srgbClr val="7A1F2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914400" y="4892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J(A, B)  =  | A ∩ B |  /  | A ∪ B |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results: the engine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recommended starting from “Prince of Persia: Warrior Within”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07040" cy="3200400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Recommended game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Shared tags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Jaccard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 of Persia®: The Sands of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 of Persia: The Two Thrones™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Darksiders II Deathinitive Edition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of Kain: Soul Reaver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Prince of Persia®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of Kain: Soul Reaver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9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035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obtained on our graph, ranked by Jaccard index.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graph gave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9476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Intuitive model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4414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how we naturally think about the domain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081528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005840" y="3310128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34655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246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Readable queries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920240" y="37398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is a few lines of Cypher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4379976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1005840" y="4608576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76402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5445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to extend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50383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nodes and relationships without restructuring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841248"/>
          </a:xfrm>
          <a:prstGeom prst="rect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9808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005840" y="2011680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94767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of 10,000 reviews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44144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dictated by local hardware constraints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3081528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005840" y="3310128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346557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20240" y="3246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Neo4j GDS library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920240" y="37398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similarity and community-detection algorithms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4379976"/>
            <a:ext cx="10789920" cy="1097280"/>
          </a:xfrm>
          <a:prstGeom prst="rect">
            <a:avLst/>
          </a:prstGeom>
          <a:solidFill>
            <a:srgbClr val="F4EC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1005840" y="4608576"/>
            <a:ext cx="640080" cy="6400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76402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54456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model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920240" y="50383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content-based and collaborative filtering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3D6D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 video games with a graph database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8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5074920"/>
            <a:ext cx="777240" cy="0"/>
          </a:xfrm>
          <a:prstGeom prst="line">
            <a:avLst/>
          </a:prstGeom>
          <a:noFill/>
          <a:ln w="19050">
            <a:solidFill>
              <a:srgbClr val="B980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0" y="4956048"/>
            <a:ext cx="237744" cy="237744"/>
          </a:xfrm>
          <a:prstGeom prst="ellipse">
            <a:avLst/>
          </a:prstGeom>
          <a:solidFill>
            <a:srgbClr val="2E7F8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446520" y="4956048"/>
            <a:ext cx="237744" cy="237744"/>
          </a:xfrm>
          <a:prstGeom prst="ellipse">
            <a:avLst/>
          </a:prstGeom>
          <a:solidFill>
            <a:srgbClr val="CF9A2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Questions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demonstration of the queries follows, including Jaccard similarity.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C9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· Cypher · APOC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36BA065D7006043A0BC3EBAD222C12B" ma:contentTypeVersion="6" ma:contentTypeDescription="Creare un nuovo documento." ma:contentTypeScope="" ma:versionID="98f5301b145948ce20198aedc113485e">
  <xsd:schema xmlns:xsd="http://www.w3.org/2001/XMLSchema" xmlns:xs="http://www.w3.org/2001/XMLSchema" xmlns:p="http://schemas.microsoft.com/office/2006/metadata/properties" xmlns:ns3="0cc29a26-8f5f-4407-b62c-7309276e9007" targetNamespace="http://schemas.microsoft.com/office/2006/metadata/properties" ma:root="true" ma:fieldsID="9f59f7ed0ff1b4ba9a6fdbf4c8ebfff6" ns3:_="">
    <xsd:import namespace="0cc29a26-8f5f-4407-b62c-7309276e90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c29a26-8f5f-4407-b62c-7309276e90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cc29a26-8f5f-4407-b62c-7309276e9007" xsi:nil="true"/>
  </documentManagement>
</p:properties>
</file>

<file path=customXml/itemProps1.xml><?xml version="1.0" encoding="utf-8"?>
<ds:datastoreItem xmlns:ds="http://schemas.openxmlformats.org/officeDocument/2006/customXml" ds:itemID="{F6AF8B9E-D7F1-481E-A323-E3E62E74C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2B6A0D-F2A2-4B43-9A84-11CAEF695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c29a26-8f5f-4407-b62c-7309276e90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ECB26D-52D6-4E1F-A53C-6F86C7C30711}">
  <ds:schemaRefs>
    <ds:schemaRef ds:uri="http://schemas.microsoft.com/office/2006/metadata/properties"/>
    <ds:schemaRef ds:uri="http://schemas.microsoft.com/office/infopath/2007/PartnerControls"/>
    <ds:schemaRef ds:uri="0cc29a26-8f5f-4407-b62c-7309276e900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840</Words>
  <Application>Microsoft Office PowerPoint</Application>
  <PresentationFormat>Widescreen</PresentationFormat>
  <Paragraphs>171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5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Recommending video games with a graph database</dc:title>
  <dc:subject>PptxGenJS Presentation</dc:subject>
  <dc:creator>Fabiano Cacioli &amp; Luca Buonomini</dc:creator>
  <cp:lastModifiedBy>LUCA BUONOMINI</cp:lastModifiedBy>
  <cp:revision>3</cp:revision>
  <dcterms:created xsi:type="dcterms:W3CDTF">2026-09-12T18:12:12Z</dcterms:created>
  <dcterms:modified xsi:type="dcterms:W3CDTF">2026-09-13T10:20:23Z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0x010100836BA065D7006043A0BC3EBAD222C12B</vt:lpwstr>
  </property>
</Properties>
</file>